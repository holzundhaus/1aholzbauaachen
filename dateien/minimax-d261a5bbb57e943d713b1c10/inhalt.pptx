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aachen.wordpress.com/2026/10/23/holzbalkon-am-bestand-anschluesse-uebergaenge-planen/" TargetMode="External"/><Relationship Id="rId3" Type="http://schemas.openxmlformats.org/officeDocument/2006/relationships/hyperlink" Target="https://holzundhaus.github.io/1aholzbauaachen/dateien/minimax-d261a5bbb57e943d713b1c1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am Bestand: Anschlüsse und Übergänge planen · Erklärende Präsentation</a:t>
            </a:r>
          </a:p>
        </p:txBody>
      </p:sp>
      <p:sp>
        <p:nvSpPr>
          <p:cNvPr id="3" name="Content Placeholder 2"/>
          <p:cNvSpPr>
            <a:spLocks noGrp="1"/>
          </p:cNvSpPr>
          <p:nvPr>
            <p:ph idx="1"/>
          </p:nvPr>
        </p:nvSpPr>
        <p:spPr/>
        <p:txBody>
          <a:bodyPr/>
          <a:lstStyle/>
          <a:p>
            <a:r>
              <a:t>Überblick: Ein Holzbalkon am Bestand ist keine reine Holzkonstruktion: Türanschluss, Tragwerksanbindung, Abdichtung und angrenzende Übergänge müssen gemeinsam geplant werden. Dieser Leitfaden strukturiert die Vorbereitung einer Anfrage rund um den geplanten Balkon, die erforderlichen Bestandsangaben und die Prüfung von Statik und Baurecht. Ergänzende Hinweise zu Regenwasser, Carport und Terrassenüberdachung in Essen zeigen, welche weiteren Außenbereichsplanungen bei der Abstimmung berücksichtigt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und Aufbauhöhe vorab bestimmen</a:t>
            </a:r>
          </a:p>
        </p:txBody>
      </p:sp>
      <p:sp>
        <p:nvSpPr>
          <p:cNvPr id="3" name="Content Placeholder 2"/>
          <p:cNvSpPr>
            <a:spLocks noGrp="1"/>
          </p:cNvSpPr>
          <p:nvPr>
            <p:ph idx="1"/>
          </p:nvPr>
        </p:nvSpPr>
        <p:spPr/>
        <p:txBody>
          <a:bodyPr/>
          <a:lstStyle/>
          <a:p>
            <a:pPr>
              <a:defRPr sz="1800"/>
            </a:pPr>
            <a:r>
              <a:t>Der Übergang zwischen Innenraum und Balkon wird häufig durch die vorhandene Aufbauhöhe bestimmt. Zu bewerten sind deshalb der Höhenanschluss, eine mögliche Schwelle und die Lage der Abdichtungsebene. Ohne örtliche Aufnahme lässt sich nicht zuverlässig entscheiden, welches Detail ausgeführt werden sollte. In die erste Anfrage gehören die geplante Balkontiefe, die vorhandene Höhe am Türanschluss und Angaben zur gewünschten Nutzung. Diese Informationen schaffen eine belastbare Grundlage für die spätere Detailplanung, ersetzen aber keine Prüfung am Gebäude.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Tragwerksanbindung nicht vereinfachen</a:t>
            </a:r>
          </a:p>
        </p:txBody>
      </p:sp>
      <p:sp>
        <p:nvSpPr>
          <p:cNvPr id="3" name="Content Placeholder 2"/>
          <p:cNvSpPr>
            <a:spLocks noGrp="1"/>
          </p:cNvSpPr>
          <p:nvPr>
            <p:ph idx="1"/>
          </p:nvPr>
        </p:nvSpPr>
        <p:spPr/>
        <p:txBody>
          <a:bodyPr/>
          <a:lstStyle/>
          <a:p>
            <a:pPr>
              <a:defRPr sz="1800"/>
            </a:pPr>
            <a:r>
              <a:t>Bei einem Holzbalkon muss die Lasteinleitung in das bestehende Haus geplant werden. Entscheidend sind insbesondere die vorhandene Wandkonstruktion, die Lage der Geschossdecken sowie mögliche Stützen im Erdgeschoss. Die Bezeichnung „Anbau“ beschreibt diese Anforderungen nicht ausreichend. Bestehende Baupläne, erkennbare Schäden und Angaben zur geplanten Nutzung helfen bei der Einschätzung. Vor der Ausführung sind Tragfähigkeit und statische Nachweise eigenständig zu prüfen. Allgemeine Ratschläge können zeigen, welche Unterlagen fehlen, jedoch keine konkrete statische Bewertung ersetzen.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Übergänge als zusammenhängendes System planen</a:t>
            </a:r>
          </a:p>
        </p:txBody>
      </p:sp>
      <p:sp>
        <p:nvSpPr>
          <p:cNvPr id="3" name="Content Placeholder 2"/>
          <p:cNvSpPr>
            <a:spLocks noGrp="1"/>
          </p:cNvSpPr>
          <p:nvPr>
            <p:ph idx="1"/>
          </p:nvPr>
        </p:nvSpPr>
        <p:spPr/>
        <p:txBody>
          <a:bodyPr/>
          <a:lstStyle/>
          <a:p>
            <a:pPr>
              <a:defRPr sz="1800"/>
            </a:pPr>
            <a:r>
              <a:t>Am Balkon treffen mehrere Bauteilgrenzen aufeinander: Hauswand, Türöffnung, Geländer, eventuell vorhandene Terrasse sowie Dach- oder Attikakante. Dazu kommen Schnittstellen zu Fassade, Dachanschluss und weiteren Gewerken. Wasserführung, Holzschutz und die Gestaltung der Übergänge müssen dabei zusammenpassen. Eine isolierte Empfehlung für nur einen Anschluss greift zu kurz, weil das Detail vom konkreten Bestand abhängt. Der übergreifende Einstieg in Holzterrassen und Balkone bietet dafür einen geeigneten Rahmen, von der Flächenplanung bis zur vorbereiteten Anfrage.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Genehmigung und Bestand früh klären</a:t>
            </a:r>
          </a:p>
        </p:txBody>
      </p:sp>
      <p:sp>
        <p:nvSpPr>
          <p:cNvPr id="3" name="Content Placeholder 2"/>
          <p:cNvSpPr>
            <a:spLocks noGrp="1"/>
          </p:cNvSpPr>
          <p:nvPr>
            <p:ph idx="1"/>
          </p:nvPr>
        </p:nvSpPr>
        <p:spPr/>
        <p:txBody>
          <a:bodyPr/>
          <a:lstStyle/>
          <a:p>
            <a:pPr>
              <a:defRPr sz="1800"/>
            </a:pPr>
            <a:r>
              <a:t>Ob ein Balkonvorhaben genehmigungspflichtig ist, hängt vom konkreten Projekt ab. Auch wenn ein Verfahren möglicherweise nicht erforderlich ist, bleiben die einschlägigen Anforderungen zu beachten. Neben dem baurechtlichen Rahmen sind die Tragfähigkeit des Bestands und die erforderlichen statischen Nachweise zu klären. Für Aachen bieten die Informationen der Stadt zur Bauaufsicht einen ersten Anlaufpunkt. Eine belastbare Aussage ist erst nach Prüfung des tatsächlichen Gebäudes möglich; erkennbare Risse, Feuchte oder frühere Veränderungen sollten deshalb frühzeitig in die Unterlagen aufgenommen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mit konkreten Angaben vorbereiten</a:t>
            </a:r>
          </a:p>
        </p:txBody>
      </p:sp>
      <p:sp>
        <p:nvSpPr>
          <p:cNvPr id="3" name="Content Placeholder 2"/>
          <p:cNvSpPr>
            <a:spLocks noGrp="1"/>
          </p:cNvSpPr>
          <p:nvPr>
            <p:ph idx="1"/>
          </p:nvPr>
        </p:nvSpPr>
        <p:spPr/>
        <p:txBody>
          <a:bodyPr/>
          <a:lstStyle/>
          <a:p>
            <a:pPr>
              <a:defRPr sz="1800"/>
            </a:pPr>
            <a:r>
              <a:t>Eine hilfreiche Anfrage bündelt zunächst den Standort in Aachen oder Umgebung, die Adresse oder den Stadtteil, die geplante Balkonfläche und Tiefe sowie die vorhandene Aufbauhöhe am Türanschluss. Fotos von Fassade, Türanschluss und möglichen Anschlussstellen ergänzen diese Angaben. Bei Bestandsbauten sind vorhandene Pläne, bekannte Veränderungen und erkennbare Schäden relevant. Ergänzt werden können Hinweise zu Schattenlage, Bewuchs und Feuchte sowie Wünsche zu Geländer und Belag. Für abgestimmte Außenbereichsplanungen bietet der Beitrag Regenwasser, Carport und Terrassenüberdachung in Essen einen thematisch passenden Bezug. Die gesammelten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mit konkreten Angaben vorbereiten</a:t>
            </a:r>
          </a:p>
        </p:txBody>
      </p:sp>
      <p:sp>
        <p:nvSpPr>
          <p:cNvPr id="3" name="Content Placeholder 2"/>
          <p:cNvSpPr>
            <a:spLocks noGrp="1"/>
          </p:cNvSpPr>
          <p:nvPr>
            <p:ph idx="1"/>
          </p:nvPr>
        </p:nvSpPr>
        <p:spPr/>
        <p:txBody>
          <a:bodyPr/>
          <a:lstStyle/>
          <a:p>
            <a:pPr>
              <a:defRPr sz="1800"/>
            </a:pPr>
            <a:r>
              <a:t>ngaben ersetzen weder die Vor-Ort-Aufnahme noch die statische und baurechtliche Prüfung.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am Bestand: Anschlüsse und Übergänge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