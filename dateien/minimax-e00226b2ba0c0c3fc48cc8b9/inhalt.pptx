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aachen/aufstockung-holzrahmenbau-bestandstragstruktur-vorbereiten/" TargetMode="External"/><Relationship Id="rId3" Type="http://schemas.openxmlformats.org/officeDocument/2006/relationships/hyperlink" Target="https://holzundhaus.github.io/1aholzbauaachen/dateien/minimax-e00226b2ba0c0c3fc48cc8b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im Holzrahmenbau: Was zur Bestandstragstruktur vorab geklärt sein sollte · Erklärende Präsentation</a:t>
            </a:r>
          </a:p>
        </p:txBody>
      </p:sp>
      <p:sp>
        <p:nvSpPr>
          <p:cNvPr id="3" name="Content Placeholder 2"/>
          <p:cNvSpPr>
            <a:spLocks noGrp="1"/>
          </p:cNvSpPr>
          <p:nvPr>
            <p:ph idx="1"/>
          </p:nvPr>
        </p:nvSpPr>
        <p:spPr/>
        <p:txBody>
          <a:bodyPr/>
          <a:lstStyle/>
          <a:p>
            <a:r>
              <a:t>Überblick: Eine Aufstockung im Holzrahmenbau beginnt nicht mit der Planung des neuen Geschosses, sondern mit dem verlässlichen Erfassen des vorhandenen Gebäudes. Tragstruktur, Deckenaufbau, frühere Veränderungen und die mögliche Erschließung beeinflussen, ob sich zusätzliche Fläche sinnvoll umsetzen lässt. Dieser Beitrag zeigt, welche Unterlagen und Beobachtungen Sie vorbereiten können, um das erste Planungsgespräch zu strukturieren. Er ergänzt die Grundlagen der Aufstockung im Bestand und ersetzt weder eine Vor-Ort-Aufnahme noch eine statische oder baurechtliche Prüfung.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tragende Bestandsstruktur gezielt erfassen</a:t>
            </a:r>
          </a:p>
        </p:txBody>
      </p:sp>
      <p:sp>
        <p:nvSpPr>
          <p:cNvPr id="3" name="Content Placeholder 2"/>
          <p:cNvSpPr>
            <a:spLocks noGrp="1"/>
          </p:cNvSpPr>
          <p:nvPr>
            <p:ph idx="1"/>
          </p:nvPr>
        </p:nvSpPr>
        <p:spPr/>
        <p:txBody>
          <a:bodyPr/>
          <a:lstStyle/>
          <a:p>
            <a:pPr>
              <a:defRPr sz="1800"/>
            </a:pPr>
            <a:r>
              <a:t>Bei einer Aufstockung kommen zusätzliche Lasten aus Wand, Dach und Geschossdecke auf das bestehende Gebäude. Entscheidend ist daher nicht nur, ob eine Decke vorhanden ist, sondern wie diese aufgebaut ist und wo sie aufgelagert wird. Für die erste Bestandsaufnahme können Sie sichtbare Balkenlagen, Auflagerbereiche, Deckenuntersichten und den Dachraum fotografieren, sofern diese Bereiche sicher zugänglich sind. Auch Querschnitte, Balkenabstände und erkennbare Spannweiten sind hilfreich. Die Bezeichnung „massiv“ oder „Holzbalken“ allein sagt dagegen wenig über die tatsächliche Tragfähigkeit aus. Diese Beobachtungen schaffen eine belastbare Grund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tragende Bestandsstruktur gezielt erfassen</a:t>
            </a:r>
          </a:p>
        </p:txBody>
      </p:sp>
      <p:sp>
        <p:nvSpPr>
          <p:cNvPr id="3" name="Content Placeholder 2"/>
          <p:cNvSpPr>
            <a:spLocks noGrp="1"/>
          </p:cNvSpPr>
          <p:nvPr>
            <p:ph idx="1"/>
          </p:nvPr>
        </p:nvSpPr>
        <p:spPr/>
        <p:txBody>
          <a:bodyPr/>
          <a:lstStyle/>
          <a:p>
            <a:pPr>
              <a:defRPr sz="1800"/>
            </a:pPr>
            <a:r>
              <a:t>lage für die spätere Detailplanung, ersetzen aber keinen statischen Nachweis durch eine qualifizierte Person.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sammeln und Wissenslücken markieren</a:t>
            </a:r>
          </a:p>
        </p:txBody>
      </p:sp>
      <p:sp>
        <p:nvSpPr>
          <p:cNvPr id="3" name="Content Placeholder 2"/>
          <p:cNvSpPr>
            <a:spLocks noGrp="1"/>
          </p:cNvSpPr>
          <p:nvPr>
            <p:ph idx="1"/>
          </p:nvPr>
        </p:nvSpPr>
        <p:spPr/>
        <p:txBody>
          <a:bodyPr/>
          <a:lstStyle/>
          <a:p>
            <a:pPr>
              <a:defRPr sz="1800"/>
            </a:pPr>
            <a:r>
              <a:t>Vorhandene Grundrisse und Schnitte sind ein wichtiger Ausgangspunkt, auch wenn sie unvollständig oder älter sind. Ergänzen Sie sie um Angaben zum Baujahr und zu bekannten Veränderungen an Dach, Decken oder anderen Bauteilen. Notieren Sie außerdem, welche Unterlagen fehlen oder widersprüchlich wirken. Dazu gehören etwa unterschiedliche Angaben zu Raumgrößen, Balkenlagen oder früheren Umbauten. Fotos können sichtbare Merkmale dokumentieren, ersetzen jedoch keine Bauakten und keine fachliche Aufnahme vor Ort. Eine übersichtliche Sammlung erleichtert es den Planenden, offene Punkte zu erkennen, gezielt nachzufragen und die weiteren Untersuchungen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sammeln und Wissenslücken markieren</a:t>
            </a:r>
          </a:p>
        </p:txBody>
      </p:sp>
      <p:sp>
        <p:nvSpPr>
          <p:cNvPr id="3" name="Content Placeholder 2"/>
          <p:cNvSpPr>
            <a:spLocks noGrp="1"/>
          </p:cNvSpPr>
          <p:nvPr>
            <p:ph idx="1"/>
          </p:nvPr>
        </p:nvSpPr>
        <p:spPr/>
        <p:txBody>
          <a:bodyPr/>
          <a:lstStyle/>
          <a:p>
            <a:pPr>
              <a:defRPr sz="1800"/>
            </a:pPr>
            <a:r>
              <a:t> sinnvoll zu begrenzen.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Spannweiten und Lastverteilung einordnen</a:t>
            </a:r>
          </a:p>
        </p:txBody>
      </p:sp>
      <p:sp>
        <p:nvSpPr>
          <p:cNvPr id="3" name="Content Placeholder 2"/>
          <p:cNvSpPr>
            <a:spLocks noGrp="1"/>
          </p:cNvSpPr>
          <p:nvPr>
            <p:ph idx="1"/>
          </p:nvPr>
        </p:nvSpPr>
        <p:spPr/>
        <p:txBody>
          <a:bodyPr/>
          <a:lstStyle/>
          <a:p>
            <a:pPr>
              <a:defRPr sz="1800"/>
            </a:pPr>
            <a:r>
              <a:t>Lange, lastverteilende Decken verhalten sich unter zusätzlichen Geschossen anders als kurze, direkt von Wänden getragene Konstruktionen. Deshalb sollten Spannweiten und Stützweiten so genau wie möglich erfasst werden. Besonders hilfreich ist eine grobe Zuordnung der tragenden Wände, der Deckenauflager und der Bereiche, in denen keine Stützen vorhanden sind. Ein stützenfreier Grundriss unter der geplanten Aufstockung kann die Lösungsmöglichkeiten deutlich einschränken und mehr Vorbereitung erfordern. Auch die gewünschte Nutzung und die ungefähre Lage des geplanten Geschosses gehören in diese Übersicht. So kann später geprüft werden, welche Kon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Spannweiten und Lastverteilung einordnen</a:t>
            </a:r>
          </a:p>
        </p:txBody>
      </p:sp>
      <p:sp>
        <p:nvSpPr>
          <p:cNvPr id="3" name="Content Placeholder 2"/>
          <p:cNvSpPr>
            <a:spLocks noGrp="1"/>
          </p:cNvSpPr>
          <p:nvPr>
            <p:ph idx="1"/>
          </p:nvPr>
        </p:nvSpPr>
        <p:spPr/>
        <p:txBody>
          <a:bodyPr/>
          <a:lstStyle/>
          <a:p>
            <a:pPr>
              <a:defRPr sz="1800"/>
            </a:pPr>
            <a:r>
              <a:t>struktion, Deckenlage oder Anbindung grundsätzlich in Betracht kommt.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Erschließung früh mitdenken</a:t>
            </a:r>
          </a:p>
        </p:txBody>
      </p:sp>
      <p:sp>
        <p:nvSpPr>
          <p:cNvPr id="3" name="Content Placeholder 2"/>
          <p:cNvSpPr>
            <a:spLocks noGrp="1"/>
          </p:cNvSpPr>
          <p:nvPr>
            <p:ph idx="1"/>
          </p:nvPr>
        </p:nvSpPr>
        <p:spPr/>
        <p:txBody>
          <a:bodyPr/>
          <a:lstStyle/>
          <a:p>
            <a:pPr>
              <a:defRPr sz="1800"/>
            </a:pPr>
            <a:r>
              <a:t>Neben der Tragstruktur muss die Frage geklärt werden, wie das neue Geschoss erreicht wird. Dafür kommen je nach Gebäude und Entwurf eine Treppe im bestehenden Treppenhaus, ein separater Zugang oder andere Anbindungen infrage. Position, Breite, Podest, Anschlusshöhe und die Verbindung zu den erforderlichen Wand- und Dachanschlüssen sollten bereits in einer frühen Skizze berücksichtigt werden. Ohne eine grobe Erschließungsentscheidung lassen sich Anschlüsse und Brandschutzanforderungen nur eingeschränkt zuordnen. Hilfreich ist deshalb eine einfache Darstellung des vorhandenen Treppenhauses und des gewünschten Treppenanschlusses. Welche Lösung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Erschließung früh mitdenken</a:t>
            </a:r>
          </a:p>
        </p:txBody>
      </p:sp>
      <p:sp>
        <p:nvSpPr>
          <p:cNvPr id="3" name="Content Placeholder 2"/>
          <p:cNvSpPr>
            <a:spLocks noGrp="1"/>
          </p:cNvSpPr>
          <p:nvPr>
            <p:ph idx="1"/>
          </p:nvPr>
        </p:nvSpPr>
        <p:spPr/>
        <p:txBody>
          <a:bodyPr/>
          <a:lstStyle/>
          <a:p>
            <a:pPr>
              <a:defRPr sz="1800"/>
            </a:pPr>
            <a:r>
              <a:t>atsächlich möglich ist, muss anschließend objekt- und detailbezogen geprüft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prüfbaren Ausgangsbasis</a:t>
            </a:r>
          </a:p>
        </p:txBody>
      </p:sp>
      <p:sp>
        <p:nvSpPr>
          <p:cNvPr id="3" name="Content Placeholder 2"/>
          <p:cNvSpPr>
            <a:spLocks noGrp="1"/>
          </p:cNvSpPr>
          <p:nvPr>
            <p:ph idx="1"/>
          </p:nvPr>
        </p:nvSpPr>
        <p:spPr/>
        <p:txBody>
          <a:bodyPr/>
          <a:lstStyle/>
          <a:p>
            <a:pPr>
              <a:defRPr sz="1800"/>
            </a:pPr>
            <a:r>
              <a:t>Eine gute Vorbereitung trennt das, was bereits bekannt ist, von dem, was noch untersucht werden muss. Dafür helfen eine kurze Bestandsbeschreibung, gesammelte Pläne und Fotos, Angaben zur gewünschten zusätzlichen Fläche sowie eine erste Skizze zur Erschließung. Diese Unterlagen machen sichtbar, ob eine Aufstockung weiter geplant werden kann und welche Eingriffe in den Bestand voraussichtlich zu prüfen sind. Sie ersetzen weder die statische Nachweisführung noch die baurechtliche Klärung mit der zuständigen Stelle oder eine Vor-Ort-Aufnahme. Weitere Einstiegshinweise finden sich bei Anbau und Aufstockung im Holzrahmenbau; für die konkrete Vorbe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prüfbaren Ausgangsbasis</a:t>
            </a:r>
          </a:p>
        </p:txBody>
      </p:sp>
      <p:sp>
        <p:nvSpPr>
          <p:cNvPr id="3" name="Content Placeholder 2"/>
          <p:cNvSpPr>
            <a:spLocks noGrp="1"/>
          </p:cNvSpPr>
          <p:nvPr>
            <p:ph idx="1"/>
          </p:nvPr>
        </p:nvSpPr>
        <p:spPr/>
        <p:txBody>
          <a:bodyPr/>
          <a:lstStyle/>
          <a:p>
            <a:pPr>
              <a:defRPr sz="1800"/>
            </a:pPr>
            <a:r>
              <a:t>reitung bietet der Beitrag zur Bestandstragstruktur einen praxisnahen Leitfaden.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im Holzrahmenbau: Was zur Bestandstragstruktur vorab geklärt sein sollte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