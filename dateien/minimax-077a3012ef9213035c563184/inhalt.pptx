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aachen/terrassenueberdachung-belaege-dachneigung-nutzungszeiten/" TargetMode="External"/><Relationship Id="rId3" Type="http://schemas.openxmlformats.org/officeDocument/2006/relationships/hyperlink" Target="https://holzundhaus.github.io/1aholzbauaachen/dateien/minimax-077a3012ef9213035c56318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planen: Beläge, Dachneigung und Nutzungszeiten im Vergleich · Erklärende Präsentation</a:t>
            </a:r>
          </a:p>
        </p:txBody>
      </p:sp>
      <p:sp>
        <p:nvSpPr>
          <p:cNvPr id="3" name="Content Placeholder 2"/>
          <p:cNvSpPr>
            <a:spLocks noGrp="1"/>
          </p:cNvSpPr>
          <p:nvPr>
            <p:ph idx="1"/>
          </p:nvPr>
        </p:nvSpPr>
        <p:spPr/>
        <p:txBody>
          <a:bodyPr/>
          <a:lstStyle/>
          <a:p>
            <a:r>
              <a:t>Überblick: Die passende Terrassenüberdachung ergibt sich aus dem geplanten Nutzungsprofil. Entscheidend ist, ob die Fläche vor allem im Frühjahr und Herbst oder ganzjährig genutzt wird, wie viel Tageslicht gewünscht ist und ob die Konstruktion am Haus angebunden oder freistehend geplant wird. Wer diese Fragen vor der Materialwahl klärt, kann Beläge, Dachneigung sowie Anschlussdetails sinnvoller aufeinander abstimmen. Der folgende Leitfaden zeigt, welche Kombinationen sich aus dem Nutzungsprofil ergeben und welche Angaben für eine belastbare Beratung vorliegen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planen: Nutzung vor Material</a:t>
            </a:r>
          </a:p>
        </p:txBody>
      </p:sp>
      <p:sp>
        <p:nvSpPr>
          <p:cNvPr id="3" name="Content Placeholder 2"/>
          <p:cNvSpPr>
            <a:spLocks noGrp="1"/>
          </p:cNvSpPr>
          <p:nvPr>
            <p:ph idx="1"/>
          </p:nvPr>
        </p:nvSpPr>
        <p:spPr/>
        <p:txBody>
          <a:bodyPr/>
          <a:lstStyle/>
          <a:p>
            <a:pPr>
              <a:defRPr sz="1800"/>
            </a:pPr>
            <a:r>
              <a:t>Bei der Planung steht nicht zuerst die Frage nach einem bestimmten Belag im Mittelpunkt, sondern die Frage nach der gewünschten Nutzung. Für eine Fläche, die überwiegend in milder Jahreszeit genutzt wird, kann ein offener oder teilweise offener Aufbau sinnvoll sein. Soll die Terrasse dagegen ganzjährig als geschützter Aufenthaltsbereich dienen, gewinnen Wind- und Witterungsschutz sowie die Abgrenzung zur Wohnfläche an Bedeutung. Auch Helligkeit und Sitzbereich beeinflussen das geeignete Dachmaterial. Die weiteren Hinweise zum Leistungsbereich zu Carports und Überdachungen zeigen, dass Standort, Zugang und Fläche bereits früh bei der Planung 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planen: Nutzung vor Material</a:t>
            </a:r>
          </a:p>
        </p:txBody>
      </p:sp>
      <p:sp>
        <p:nvSpPr>
          <p:cNvPr id="3" name="Content Placeholder 2"/>
          <p:cNvSpPr>
            <a:spLocks noGrp="1"/>
          </p:cNvSpPr>
          <p:nvPr>
            <p:ph idx="1"/>
          </p:nvPr>
        </p:nvSpPr>
        <p:spPr/>
        <p:txBody>
          <a:bodyPr/>
          <a:lstStyle/>
          <a:p>
            <a:pPr>
              <a:defRPr sz="1800"/>
            </a:pPr>
            <a:r>
              <a:t>erücksichtigt werden sollten.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Dachbeläge im Vergleich: Licht, Sicht und Pflege</a:t>
            </a:r>
          </a:p>
        </p:txBody>
      </p:sp>
      <p:sp>
        <p:nvSpPr>
          <p:cNvPr id="3" name="Content Placeholder 2"/>
          <p:cNvSpPr>
            <a:spLocks noGrp="1"/>
          </p:cNvSpPr>
          <p:nvPr>
            <p:ph idx="1"/>
          </p:nvPr>
        </p:nvSpPr>
        <p:spPr/>
        <p:txBody>
          <a:bodyPr/>
          <a:lstStyle/>
          <a:p>
            <a:pPr>
              <a:defRPr sz="1800"/>
            </a:pPr>
            <a:r>
              <a:t>Transparente Beläge wie Glas oder hochwertige Kunststoffplatten lassen viel Tageslicht direkt auf die Terrasse fallen und schaffen eine klare Sicht nach oben. Allerdings können sichtbare Verschmutzungen den optischen Eindruck beeinträchtigen, weshalb ein regelmäßiger Reinigungsbedarf einzuplanen ist. Translucent matte Beläge, etwa Milchglas oder opake Platten, verteilen das Licht diffuser und wirken dadurch blendärmer. Eine Eindeckung mit Profilen, beispielsweise aus Bitumen, Blech oder Holz mit Deckleist, lässt keinen direkten Lichteinfall zu, grenzt den Bereich aber deutlich vom übrigen Garten ab. Bei einer freistehenden Konstruktion kann 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Dachbeläge im Vergleich: Licht, Sicht und Pflege</a:t>
            </a:r>
          </a:p>
        </p:txBody>
      </p:sp>
      <p:sp>
        <p:nvSpPr>
          <p:cNvPr id="3" name="Content Placeholder 2"/>
          <p:cNvSpPr>
            <a:spLocks noGrp="1"/>
          </p:cNvSpPr>
          <p:nvPr>
            <p:ph idx="1"/>
          </p:nvPr>
        </p:nvSpPr>
        <p:spPr/>
        <p:txBody>
          <a:bodyPr/>
          <a:lstStyle/>
          <a:p>
            <a:pPr>
              <a:defRPr sz="1800"/>
            </a:pPr>
            <a:r>
              <a:t>ehr Transparenz den hellen Standort vorteilhaft nutzen. Bei einer am Haus angebundenen Überdachung bietet sich häufig ein Kompromiss aus lichtdurchlässigen und geschlossenen Bereichen an: zur Gartenseite offener, zum Hausanschluss hin geschlossen.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Wasserführung gemeinsam betrachten</a:t>
            </a:r>
          </a:p>
        </p:txBody>
      </p:sp>
      <p:sp>
        <p:nvSpPr>
          <p:cNvPr id="3" name="Content Placeholder 2"/>
          <p:cNvSpPr>
            <a:spLocks noGrp="1"/>
          </p:cNvSpPr>
          <p:nvPr>
            <p:ph idx="1"/>
          </p:nvPr>
        </p:nvSpPr>
        <p:spPr/>
        <p:txBody>
          <a:bodyPr/>
          <a:lstStyle/>
          <a:p>
            <a:pPr>
              <a:defRPr sz="1800"/>
            </a:pPr>
            <a:r>
              <a:t>Die Dachneigung beeinflusst, wie schnell Wasser und Schnee abgetragen werden. Eine flache oder nur schwach geneigte Dachfläche lässt Wasser langsamer abfließen, sodass Verschmutzungen länger liegen bleiben und sich Schneelasten sammeln können. Sie ist deshalb nur mit einer bewusst gewählten dichten Entwässerung und einer klar definierten Tragfähigkeit sinnvoll. Eine mittlere Neigung bildet üblicherweise einen Kompromiss: Regenwasser wird zuverlässig abgeführt, während Laub und Schmutz teilweise ausgespült werden. Eine stark geneigte Ausführung sorgt für schnelleren Abtrag, erhöht aber die Gebäudehöhe am Anschlusspunkt. Unabhängig von der Neig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Wasserführung gemeinsam betrachten</a:t>
            </a:r>
          </a:p>
        </p:txBody>
      </p:sp>
      <p:sp>
        <p:nvSpPr>
          <p:cNvPr id="3" name="Content Placeholder 2"/>
          <p:cNvSpPr>
            <a:spLocks noGrp="1"/>
          </p:cNvSpPr>
          <p:nvPr>
            <p:ph idx="1"/>
          </p:nvPr>
        </p:nvSpPr>
        <p:spPr/>
        <p:txBody>
          <a:bodyPr/>
          <a:lstStyle/>
          <a:p>
            <a:pPr>
              <a:defRPr sz="1800"/>
            </a:pPr>
            <a:r>
              <a:t>ung müssen Untergrund, Wasserführung und die Verbindung zur Regenrinne stimmig sein, damit sich kein Wasser an der Hauswand staut.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Stützen und Unterhalt</a:t>
            </a:r>
          </a:p>
        </p:txBody>
      </p:sp>
      <p:sp>
        <p:nvSpPr>
          <p:cNvPr id="3" name="Content Placeholder 2"/>
          <p:cNvSpPr>
            <a:spLocks noGrp="1"/>
          </p:cNvSpPr>
          <p:nvPr>
            <p:ph idx="1"/>
          </p:nvPr>
        </p:nvSpPr>
        <p:spPr/>
        <p:txBody>
          <a:bodyPr/>
          <a:lstStyle/>
          <a:p>
            <a:pPr>
              <a:defRPr sz="1800"/>
            </a:pPr>
            <a:r>
              <a:t>Bei einer angebundenen Überdachung ist der Hausanschluss die sensible Stelle. Wandanschluss, Dichtebene, Hinterlüftung und der Übergang zur Fassade müssen zusammenpassen, damit die Konstruktion dauerhaft funktioniert. Bei einer freistehenden Variante sind Stützen und Fundamente so zu wählen, dass die Fläche darunter nutzbar bleibt und das Eigengewicht keine ungünstigen Spannungen im Belag erzeugt. Auch die Wartung folgt dem Nutzungskonzept: Glatte, lichtdurchlässige Beläge zeigen Verschmutzungen schneller, lassen sich aber meist mit klarem Wasser reinigen. Profilierte oder matte Beläge verzeihen Flecken eher, können dafür sichtbare Spuren län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 Stützen und Unterhalt</a:t>
            </a:r>
          </a:p>
        </p:txBody>
      </p:sp>
      <p:sp>
        <p:nvSpPr>
          <p:cNvPr id="3" name="Content Placeholder 2"/>
          <p:cNvSpPr>
            <a:spLocks noGrp="1"/>
          </p:cNvSpPr>
          <p:nvPr>
            <p:ph idx="1"/>
          </p:nvPr>
        </p:nvSpPr>
        <p:spPr/>
        <p:txBody>
          <a:bodyPr/>
          <a:lstStyle/>
          <a:p>
            <a:pPr>
              <a:defRPr sz="1800"/>
            </a:pPr>
            <a:r>
              <a:t>ger bewahren. Eine ganzjährig genutzte Überdachung stellt andere Anforderungen als eine Konstruktion für Frühjahr bis Herbst.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vergleichbare Beratung benötigt wird</a:t>
            </a:r>
          </a:p>
        </p:txBody>
      </p:sp>
      <p:sp>
        <p:nvSpPr>
          <p:cNvPr id="3" name="Content Placeholder 2"/>
          <p:cNvSpPr>
            <a:spLocks noGrp="1"/>
          </p:cNvSpPr>
          <p:nvPr>
            <p:ph idx="1"/>
          </p:nvPr>
        </p:nvSpPr>
        <p:spPr/>
        <p:txBody>
          <a:bodyPr/>
          <a:lstStyle/>
          <a:p>
            <a:pPr>
              <a:defRPr sz="1800"/>
            </a:pPr>
            <a:r>
              <a:t>Für eine belastbare Einschätzung sollten Länge, Breite und Höhe der geplanten Fläche sowie eine einfache Standortskizze vorliegen. Hilfreich sind außerdem Fotos der Terrasse und des Wandanschlussbereichs. Die gewünschte Ausführung – freistehend oder angebunden –, die Nutzungszeiten und die Erwartungen an Lichteinfall und sichtbare Bauteile müssen geklärt sein. Ebenso wichtig sind bekannte Leitungen, der vorhandene Untergrund und der aktuelle Planungsstand. Ohne diese Angaben wäre ein pauschaler Preis wenig aussagekräftig. Erst wenn Material, Dachneigung und Anschlussdetails benannt sind, lassen sich Angebote mit demselben Leistungsumfang sinn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für eine vergleichbare Beratung benötigt wird</a:t>
            </a:r>
          </a:p>
        </p:txBody>
      </p:sp>
      <p:sp>
        <p:nvSpPr>
          <p:cNvPr id="3" name="Content Placeholder 2"/>
          <p:cNvSpPr>
            <a:spLocks noGrp="1"/>
          </p:cNvSpPr>
          <p:nvPr>
            <p:ph idx="1"/>
          </p:nvPr>
        </p:nvSpPr>
        <p:spPr/>
        <p:txBody>
          <a:bodyPr/>
          <a:lstStyle/>
          <a:p>
            <a:pPr>
              <a:defRPr sz="1800"/>
            </a:pPr>
            <a:r>
              <a:t>voll gegenüberstellen.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Terrassenüberdachung planen: Beläge, Dachneigung und Nutzungszeiten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